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Phase 3 des DSR-Prozesses nach Peffers et al. (2007): Design &amp; Development. Platzhalter: Peffers-Diagramm mit markierter Phase 3. Ich übersetze die Probleme in begründete Designprinzipien — präsentiert als vier problemgetriebene Design-Iterationen; Anshul zeigt dieselben Iterationen aus der Demonstrations-Sicht.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Mein individueller DSR-Beitrag ist das Designwissen. Nach Gregor und Hevner (2013) ein Ebene-2-Beitrag — präskriptive Designprinzipien DP1 bis DP6, in der Form nach Gregor und Jones (2007), abgeleitet in der Matrix. Gemeinsames Dach mit Anshul: Improvement bzw. Exaptation in den Kontext Nord-Korfu. Anshul demonstriert danach (Phase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Artefakt ist zweistufig: die Website (Stufe 1) und die Designprinzipien (Stufe 2 — der wissenschaftliche Kern). Mein zentrales Instrument ist die Matrix: Sie verbindet Problem, Ziel, Designprinzip, Quelle mit A/B-Typ, Umsetzung und Evaluierbarkeit, ist in beide Richtungen lesbar und erzwingt Ehrlichkeit (gebaut vs. konzipiert; Typ A nie als Typ B verkaufen).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leiten wir jedes Feature ab — erst Problem, dann Feature, in der Form nach Gregor und Jones (2007). Beispiel TP2: fehlende Anlaufstelle -&gt; Ziel "ohne Account" -&gt; DP2a, belegt durch Saldivar und Arana-Catania (2021), beide Typ A. Methodisch entstand das Design im Design Cycle (Hevner) in vier problemgetriebenen Iterationen, die ich jetzt durchgehe. Hinweis: Das ist die didaktische Konsolidierung unserer real sieben Entwicklungsiterationen (siehe DEVLOG).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adressiert die Sichtbarkeit. Problem TP1: die Aktionen sind nicht zentral auffindbar. Daraus DP1 — ein zentraler, strukturierter, gruppierbarer Ort. Belegt durch Simelio-Solà (2021), die über 605 Kommunen zeigen, dass unstrukturierte Information fundierte Entscheidungen verhindert, und Tsatsani (2024) für griechische Kommunen. Designentscheidung: Daten in eine Fallback-Schicht ausgelagert, damit später eine API ohne UI-Umbau anschließt.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2: SDG-Transparenz. Problem TP3 — der SDG-Beitrag und die Wirkung sind nicht sichtbar. Daraus DP3a (verständliches Dashboard) und DP3b (SMART-KPIs, Wirkung an Bürger:innen zurückspielen). Belegt durch Chokki et al. (Dashboards erhöhen Engagement, allerdings Preprint), Simonofski (2022) und Grimmelikhuijsen und Welch (2012), die Outcome-Transparenz als eigene Dimension etablieren.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3: Beteiligung und Zielgruppen. Probleme TP2 und TP4. DP2a (ohne Account) und DP2b (Engagement-Mechaniken — aber nicht rein belohnungsbasiert; Thiel 2016 warnt vor Kurzfrist-Effekten). DP4: Mehrsprachigkeit und WCAG 2.1 AA in jeder Sprachfassung — Pontus (2021) zeigt, dass lokalisierte Fassungen oft weniger barrierefrei sind. Belege: Saldivar, Yang und Wu (2025), Csontos und Heckl.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4: Tourist:innen und Community. Problem TP6 — Tourismus wird nur als Belastung gesehen. DP6 verwandelt Besucher:innen in eine Ressource (niedrigschwellige Beiträge, Storytelling), kombiniert mit der Initiative-Gruppierung aus DP1. Belegt durch Laksmi (2026) — Community-Partizipation und digitale Strategie verbessern die Nachhaltigkeit messbar — und Vegas Macias (2023) aus dem analogen Fischerdorf Marsaxlokk.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Abschluss die Architektur: bewusste Designentscheidungen ohne Wirkungsbeleg — Tech-Stack, grünes Design, und bewusst kein produktives Backend für freie Einreichungen in der Beta (Datenschutz; Future Work). Der Status quo: die Designprinzipien sind als kohärentes Set instanziiert; offene Grenzen wie die i18n-Altseiten sind selbst Designwissen. Damit übergebe ich an Anshul, der dieselben vier Iterationen aus der Demonstrations-Perspektive 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 Hinweis: Cronholm und Göbel (2018) war im Briefing genannt, ist aber nicht im Korpus — daher nur Gregor und Jones (2007) für die DP-Form.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3: Design &amp; Entwicklung</a:t>
            </a:r>
          </a:p>
          <a:p>
            <a:r>
              <a:t>Marieclaire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Beitrag = das Designwissen: begründete, übertragbare Designprinzipien (DP1-DP6)</a:t>
            </a:r>
          </a:p>
          <a:p>
            <a:pPr/>
            <a:r>
              <a:t>Ebene 2 (Gregor &amp; Hevner 2013): "nascent design theory" — präskriptiv</a:t>
            </a:r>
          </a:p>
          <a:p>
            <a:pPr/>
            <a:r>
              <a:t>Form nach Gregor &amp; Jones (2007); Matrix als Ableitungsinstrument</a:t>
            </a:r>
          </a:p>
          <a:p>
            <a:pPr/>
            <a:r>
              <a:t>Gemeinsames Dach: Improvement / Exaptation -&gt; Kontext Nord-Korfu</a:t>
            </a:r>
          </a:p>
          <a:p>
            <a:pPr/>
            <a:r>
              <a:t>Abgrenzung: Anshuls Beitrag = Instanziierung + Demonstration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Mein DSR-Beitrag (Phase 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Stufe 1: die Website (mehrsprachig, barrierefrei) · Stufe 2: die Designprinzipien</a:t>
            </a:r>
          </a:p>
          <a:p>
            <a:pPr/>
            <a:r>
              <a:t>Matrix: Problem -&gt; Ziel -&gt; Designprinzip -&gt; Quelle (A/B) -&gt; Umsetzung -&gt; Evaluierbarkeit</a:t>
            </a:r>
          </a:p>
          <a:p>
            <a:pPr/>
            <a:r>
              <a:t>in beide Richtungen nachvollziehbar; erzwingt "gebaut/teilweise/konzipiert" + A/B-Regel</a:t>
            </a:r>
          </a:p>
          <a:p>
            <a:pPr/>
            <a:r>
              <a:t>Platzhalter: Auszug aus docs/MATRIX.md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Artefakt &amp; die Matrix (zentrales Instrument)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Kette: Problem -&gt; Ziel -&gt; Designprinzip -&gt; Beleg (Form n. Gregor &amp; Jones 2007)</a:t>
            </a:r>
          </a:p>
          <a:p>
            <a:pPr/>
            <a:r>
              <a:t>Beispiel TP2: keine Anlaufstelle -&gt; Einreichung ohne Account -&gt; DP2a -&gt; Saldivar [A], Arana-Catania 2021 [A]</a:t>
            </a:r>
          </a:p>
          <a:p>
            <a:pPr/>
            <a:r>
              <a:t>Das Design entstand in 4 problemgetriebenen Iterationen (Hevner Design Cycle)</a:t>
            </a:r>
          </a:p>
          <a:p>
            <a:pPr/>
            <a:r>
              <a:t>Iter 1 Sichtbarkeit · 2 SDG-Transparenz · 3 Beteiligung &amp; Zielgruppen · 4 Tourist:innen &amp; Community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Problem zu Designprinzip — und in 4 Iterationen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TP1: verstreute Kommunikation (v. a. FB der Vize-Bürgermeisterin)</a:t>
            </a:r>
          </a:p>
          <a:p>
            <a:pPr/>
            <a:r>
              <a:t>DP1: zentraler, strukturierter, gruppierbarer, durchsuchbarer Ort</a:t>
            </a:r>
          </a:p>
          <a:p>
            <a:pPr/>
            <a:r>
              <a:t>Beleg: Simelio-Solà 2021 [A] (605 Kommunen), Tsatsani 2024 [A] (griech. Kommunen &lt; 55 %)</a:t>
            </a:r>
          </a:p>
          <a:p>
            <a:pPr/>
            <a:r>
              <a:t>Designentscheidung: Daten ausgelagert -&gt; API später austauschbar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 (Design): Sichtbarkeit -&gt; DP1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TP3: SDG-Beitrag und Wirkung vergangener Aktionen unsichtbar</a:t>
            </a:r>
          </a:p>
          <a:p>
            <a:pPr/>
            <a:r>
              <a:t>DP3a: verständliches Dashboard mit aussagekräftigen Metriken; DP3b: SMART-KPIs, Wirkung zurückspielen</a:t>
            </a:r>
          </a:p>
          <a:p>
            <a:pPr/>
            <a:r>
              <a:t>Beleg: Chokki [A, Preprint], Simonofski 2022 [A], Grimmelikhuijsen &amp; Welch 2012 [A] (Outcome-Transparenz)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 (Design): SDG-Transparenz -&gt; DP3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TP2 (Hürde) + TP4 (heterogene Gruppen)</a:t>
            </a:r>
          </a:p>
          <a:p>
            <a:pPr/>
            <a:r>
              <a:t>DP2a: ohne Account; DP2b: Engagement — aber NICHT rein belohnungsbasiert (Vorbehalt)</a:t>
            </a:r>
          </a:p>
          <a:p>
            <a:pPr/>
            <a:r>
              <a:t>DP4: Mehrsprachigkeit UND WCAG 2.1 AA in jeder Sprachfassung</a:t>
            </a:r>
          </a:p>
          <a:p>
            <a:pPr/>
            <a:r>
              <a:t>Beleg: Saldivar [A], Yang &amp; Wu 2025 [A], Thiel 2016 [B]; Csontos &amp; Heckl [A], Pontus 2021 [A]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 (Design): Beteiligung &amp; Zielgruppen -&gt; DP2/DP4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Problem TP6: Tourismus bislang nur als Belastung gesehen</a:t>
            </a:r>
          </a:p>
          <a:p>
            <a:pPr/>
            <a:r>
              <a:t>DP6: Besucher:innen als Ressource (niedrigschwellig, Storytelling) + DP1-Gruppierung (Initiative-Tabs)</a:t>
            </a:r>
          </a:p>
          <a:p>
            <a:pPr/>
            <a:r>
              <a:t>Beleg: Laksmi 2026 [A] (Community β=0,42 + Digital β=0,38, p&lt;0,001), Vegas Macias 2023 [A] (Malta)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 (Design): Tourist:innen &amp; Community -&gt; DP6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Bewusste Designentscheidungen: Tech-Stack, grünes Design, kein Beta-Backend für Einreichungen</a:t>
            </a:r>
          </a:p>
          <a:p>
            <a:pPr/>
            <a:r>
              <a:t>Status quo: Designprinzipien als kohärentes Set instanziiert</a:t>
            </a:r>
          </a:p>
          <a:p>
            <a:pPr/>
            <a:r>
              <a:t>Grenzen (z. B. i18n-Altseiten) = Designwissen für den nächsten Zyklus</a:t>
            </a:r>
          </a:p>
          <a:p>
            <a:pPr/>
            <a:r>
              <a:t>Übergang: Anshul demonstriert, DASS die Prinzipien funktionieren (Phase 4)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Architektur, Status quo &amp; Übergang zu Anshul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Gregor &amp; Jones (2007); Gregor &amp; Hevner (2013); Peffers et al. (2007); Hevner (2007)</a:t>
            </a:r>
          </a:p>
          <a:p>
            <a:pPr/>
            <a:r>
              <a:t>Simelio-Solà 2021; Simonofski 2022; Grimmelikhuijsen &amp; Welch 2012; Csontos &amp; Heckl 2021/2025; Pontus 2021</a:t>
            </a:r>
          </a:p>
          <a:p>
            <a:pPr/>
            <a:r>
              <a:t>Saldivar; Yang &amp; Wu 2025; Thiel 2016; Laksmi 2026; Vegas Macias 2023</a:t>
            </a:r>
          </a:p>
          <a:p>
            <a:pPr/>
            <a:r>
              <a:t>Vollständig + A/B: docs/literature-review.md · Cronholm &amp; Göbel (2018) nicht im Korpus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